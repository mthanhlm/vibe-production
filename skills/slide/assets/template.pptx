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3" name="accent"/>
          <p:cNvSpPr/>
          <p:nvPr/>
        </p:nvSpPr>
        <p:spPr>
          <a:xfrm>
            <a:off x="830000" y="2280000"/>
            <a:ext cx="1600000" cy="76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4" name="title"/>
          <p:cNvSpPr/>
          <p:nvPr/>
        </p:nvSpPr>
        <p:spPr>
          <a:xfrm>
            <a:off x="830000" y="2480000"/>
            <a:ext cx="10532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/>
                <a:cs typeface="Arial"/>
              </a:rPr>
              <a:t>Deck title states the single recommendation</a:t>
            </a:r>
          </a:p>
        </p:txBody>
      </p:sp>
      <p:sp>
        <p:nvSpPr>
          <p:cNvPr id="5" name="subtitle"/>
          <p:cNvSpPr/>
          <p:nvPr/>
        </p:nvSpPr>
        <p:spPr>
          <a:xfrm>
            <a:off x="830000" y="4060000"/>
            <a:ext cx="10532000" cy="8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C6D8"/>
                </a:solidFill>
                <a:latin typeface="Arial"/>
                <a:cs typeface="Arial"/>
              </a:rPr>
              <a:t>Subtitle: why this matters to the business now</a:t>
            </a:r>
          </a:p>
        </p:txBody>
      </p:sp>
      <p:sp>
        <p:nvSpPr>
          <p:cNvPr id="6" name="meta"/>
          <p:cNvSpPr/>
          <p:nvPr/>
        </p:nvSpPr>
        <p:spPr>
          <a:xfrm>
            <a:off x="830000" y="6100000"/>
            <a:ext cx="1053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400" dirty="0">
                <a:solidFill>
                  <a:srgbClr val="B9C6D8"/>
                </a:solidFill>
                <a:latin typeface="Arial"/>
                <a:cs typeface="Arial"/>
              </a:rPr>
              <a:t>2026-01-01 · Prepared for the leadership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EXECUTIVE SUMMARY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63A5F"/>
                </a:solidFill>
                <a:latin typeface="Arial"/>
                <a:cs typeface="Arial"/>
              </a:rPr>
              <a:t>Three moves capture the opportunity this quarter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body"/>
          <p:cNvSpPr/>
          <p:nvPr/>
        </p:nvSpPr>
        <p:spPr>
          <a:xfrm>
            <a:off x="830000" y="2400000"/>
            <a:ext cx="10532000" cy="38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42900" indent="-342900" lvl="0">
              <a:lnSpc>
                <a:spcPct val="115000"/>
              </a:lnSpc>
              <a:spcBef>
                <a:spcPts val="1200"/>
              </a:spcBef>
              <a:buClr>
                <a:srgbClr val="C9A227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0242C"/>
                </a:solidFill>
                <a:latin typeface="Arial"/>
                <a:cs typeface="Arial"/>
              </a:rPr>
              <a:t>Bold claim one, stated as a full sentence with a number</a:t>
            </a:r>
          </a:p>
          <a:p>
            <a:pPr marL="685800" indent="-274320" lvl="1">
              <a:lnSpc>
                <a:spcPct val="115000"/>
              </a:lnSpc>
              <a:spcBef>
                <a:spcPts val="600"/>
              </a:spcBef>
              <a:buClr>
                <a:srgbClr val="6B7280"/>
              </a:buClr>
              <a:buFont typeface="Arial"/>
              <a:buChar char="–"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Optional supporting fact for the claim above</a:t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3" name="accent"/>
          <p:cNvSpPr/>
          <p:nvPr/>
        </p:nvSpPr>
        <p:spPr>
          <a:xfrm>
            <a:off x="830000" y="2830000"/>
            <a:ext cx="1600000" cy="76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4" name="kicker"/>
          <p:cNvSpPr/>
          <p:nvPr/>
        </p:nvSpPr>
        <p:spPr>
          <a:xfrm>
            <a:off x="830000" y="2340000"/>
            <a:ext cx="1053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PART ONE</a:t>
            </a:r>
          </a:p>
        </p:txBody>
      </p:sp>
      <p:sp>
        <p:nvSpPr>
          <p:cNvPr id="5" name="title"/>
          <p:cNvSpPr/>
          <p:nvPr/>
        </p:nvSpPr>
        <p:spPr>
          <a:xfrm>
            <a:off x="830000" y="3030000"/>
            <a:ext cx="10532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cs typeface="Arial"/>
              </a:rPr>
              <a:t>Section statement in one confident sentence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TOPIC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Action title: the takeaway of this slide in one sentence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body"/>
          <p:cNvSpPr/>
          <p:nvPr/>
        </p:nvSpPr>
        <p:spPr>
          <a:xfrm>
            <a:off x="830000" y="2400000"/>
            <a:ext cx="10532000" cy="37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42900" indent="-342900" lvl="0">
              <a:lnSpc>
                <a:spcPct val="115000"/>
              </a:lnSpc>
              <a:spcBef>
                <a:spcPts val="1200"/>
              </a:spcBef>
              <a:buClr>
                <a:srgbClr val="C9A227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0242C"/>
                </a:solidFill>
                <a:latin typeface="Arial"/>
                <a:cs typeface="Arial"/>
              </a:rPr>
              <a:t>Supporting point that proves the title</a:t>
            </a:r>
          </a:p>
          <a:p>
            <a:pPr marL="685800" indent="-274320" lvl="1">
              <a:lnSpc>
                <a:spcPct val="115000"/>
              </a:lnSpc>
              <a:spcBef>
                <a:spcPts val="600"/>
              </a:spcBef>
              <a:buClr>
                <a:srgbClr val="6B7280"/>
              </a:buClr>
              <a:buFont typeface="Arial"/>
              <a:buChar char="–"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Detail only if it earns its place</a:t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THE ASK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63A5F"/>
                </a:solidFill>
                <a:latin typeface="Arial"/>
                <a:cs typeface="Arial"/>
              </a:rPr>
              <a:t>Decision needed: approve the next step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body"/>
          <p:cNvSpPr/>
          <p:nvPr/>
        </p:nvSpPr>
        <p:spPr>
          <a:xfrm>
            <a:off x="830000" y="2400000"/>
            <a:ext cx="10532000" cy="37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42900" indent="-342900" lvl="0">
              <a:lnSpc>
                <a:spcPct val="115000"/>
              </a:lnSpc>
              <a:spcBef>
                <a:spcPts val="1200"/>
              </a:spcBef>
              <a:buClr>
                <a:srgbClr val="C9A227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0242C"/>
                </a:solidFill>
                <a:latin typeface="Arial"/>
                <a:cs typeface="Arial"/>
              </a:rPr>
              <a:t>What we need, from whom, by when</a:t>
            </a:r>
          </a:p>
          <a:p>
            <a:pPr marL="685800" indent="-274320" lvl="1">
              <a:lnSpc>
                <a:spcPct val="115000"/>
              </a:lnSpc>
              <a:spcBef>
                <a:spcPts val="600"/>
              </a:spcBef>
              <a:buClr>
                <a:srgbClr val="6B7280"/>
              </a:buClr>
              <a:buFont typeface="Arial"/>
              <a:buChar char="–"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What happens once approved</a:t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63A5F"/>
              </a:gs>
              <a:gs pos="100000">
                <a:srgbClr val="2E7DD1"/>
              </a:gs>
            </a:gsLst>
            <a:lin ang="2700000" scaled="1"/>
          </a:gra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3" name="statement"/>
          <p:cNvSpPr/>
          <p:nvPr/>
        </p:nvSpPr>
        <p:spPr>
          <a:xfrm>
            <a:off x="830000" y="2300000"/>
            <a:ext cx="10532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/>
                <a:cs typeface="Arial"/>
              </a:rPr>
              <a:t>One idea, stated once, at billboard scale</a:t>
            </a:r>
          </a:p>
        </p:txBody>
      </p:sp>
      <p:sp>
        <p:nvSpPr>
          <p:cNvPr id="4" name="support"/>
          <p:cNvSpPr/>
          <p:nvPr/>
        </p:nvSpPr>
        <p:spPr>
          <a:xfrm>
            <a:off x="830000" y="4300000"/>
            <a:ext cx="10532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 algn="ctr">
              <a:buNone/>
            </a:pPr>
            <a:r>
              <a:rPr lang="en-US" sz="2000" dirty="0">
                <a:solidFill>
                  <a:srgbClr val="B9C6D8"/>
                </a:solidFill>
                <a:latin typeface="Arial"/>
                <a:cs typeface="Arial"/>
              </a:rPr>
              <a:t>A single quiet line of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63A5F"/>
              </a:gs>
              <a:gs pos="100000">
                <a:srgbClr val="2E7DD1"/>
              </a:gs>
            </a:gsLst>
            <a:lin ang="2700000" scaled="1"/>
          </a:gra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3" name="section_no"/>
          <p:cNvSpPr/>
          <p:nvPr/>
        </p:nvSpPr>
        <p:spPr>
          <a:xfrm>
            <a:off x="830000" y="2340000"/>
            <a:ext cx="1053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4" name="title"/>
          <p:cNvSpPr/>
          <p:nvPr/>
        </p:nvSpPr>
        <p:spPr>
          <a:xfrm>
            <a:off x="830000" y="3030000"/>
            <a:ext cx="10532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/>
                <a:cs typeface="Arial"/>
              </a:rPr>
              <a:t>Chapter title in a few words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EXECUTIVE SUMMARY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63A5F"/>
                </a:solidFill>
                <a:latin typeface="Arial"/>
                <a:cs typeface="Arial"/>
              </a:rPr>
              <a:t>The recommendation, the reasons, the ask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col1_card"/>
          <p:cNvSpPr/>
          <p:nvPr/>
        </p:nvSpPr>
        <p:spPr>
          <a:xfrm>
            <a:off x="830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6" name="col2_card"/>
          <p:cNvSpPr/>
          <p:nvPr/>
        </p:nvSpPr>
        <p:spPr>
          <a:xfrm>
            <a:off x="4441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7" name="col3_card"/>
          <p:cNvSpPr/>
          <p:nvPr/>
        </p:nvSpPr>
        <p:spPr>
          <a:xfrm>
            <a:off x="8052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8" name="col1_head"/>
          <p:cNvSpPr/>
          <p:nvPr/>
        </p:nvSpPr>
        <p:spPr>
          <a:xfrm>
            <a:off x="1080000" y="265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C9A227"/>
                </a:solidFill>
                <a:latin typeface="Arial"/>
                <a:cs typeface="Arial"/>
              </a:rPr>
              <a:t>Situation</a:t>
            </a:r>
          </a:p>
        </p:txBody>
      </p:sp>
      <p:sp>
        <p:nvSpPr>
          <p:cNvPr id="9" name="col2_head"/>
          <p:cNvSpPr/>
          <p:nvPr/>
        </p:nvSpPr>
        <p:spPr>
          <a:xfrm>
            <a:off x="4691000" y="265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C9A227"/>
                </a:solidFill>
                <a:latin typeface="Arial"/>
                <a:cs typeface="Arial"/>
              </a:rPr>
              <a:t>Findings</a:t>
            </a:r>
          </a:p>
        </p:txBody>
      </p:sp>
      <p:sp>
        <p:nvSpPr>
          <p:cNvPr id="10" name="col3_head"/>
          <p:cNvSpPr/>
          <p:nvPr/>
        </p:nvSpPr>
        <p:spPr>
          <a:xfrm>
            <a:off x="8302000" y="265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C9A227"/>
                </a:solidFill>
                <a:latin typeface="Arial"/>
                <a:cs typeface="Arial"/>
              </a:rPr>
              <a:t>Recommendation</a:t>
            </a:r>
          </a:p>
        </p:txBody>
      </p:sp>
      <p:sp>
        <p:nvSpPr>
          <p:cNvPr id="11" name="col1_body"/>
          <p:cNvSpPr/>
          <p:nvPr/>
        </p:nvSpPr>
        <p:spPr>
          <a:xfrm>
            <a:off x="1080000" y="3250000"/>
            <a:ext cx="2810000" cy="26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20242C"/>
                </a:solidFill>
                <a:latin typeface="Arial"/>
                <a:cs typeface="Arial"/>
              </a:rPr>
              <a:t>Up to five short lines</a:t>
            </a:r>
          </a:p>
        </p:txBody>
      </p:sp>
      <p:sp>
        <p:nvSpPr>
          <p:cNvPr id="12" name="col2_body"/>
          <p:cNvSpPr/>
          <p:nvPr/>
        </p:nvSpPr>
        <p:spPr>
          <a:xfrm>
            <a:off x="4691000" y="3250000"/>
            <a:ext cx="2810000" cy="26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20242C"/>
                </a:solidFill>
                <a:latin typeface="Arial"/>
                <a:cs typeface="Arial"/>
              </a:rPr>
              <a:t>Up to five short lines</a:t>
            </a:r>
          </a:p>
        </p:txBody>
      </p:sp>
      <p:sp>
        <p:nvSpPr>
          <p:cNvPr id="13" name="col3_body"/>
          <p:cNvSpPr/>
          <p:nvPr/>
        </p:nvSpPr>
        <p:spPr>
          <a:xfrm>
            <a:off x="8302000" y="3250000"/>
            <a:ext cx="2810000" cy="26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20242C"/>
                </a:solidFill>
                <a:latin typeface="Arial"/>
                <a:cs typeface="Arial"/>
              </a:rPr>
              <a:t>Up to five short lines</a:t>
            </a:r>
          </a:p>
        </p:txBody>
      </p:sp>
      <p:sp>
        <p:nvSpPr>
          <p:cNvPr id="14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THE NUMBER</a:t>
            </a:r>
          </a:p>
        </p:txBody>
      </p:sp>
      <p:sp>
        <p:nvSpPr>
          <p:cNvPr id="3" name="metric"/>
          <p:cNvSpPr/>
          <p:nvPr/>
        </p:nvSpPr>
        <p:spPr>
          <a:xfrm>
            <a:off x="830000" y="2050000"/>
            <a:ext cx="10532000" cy="230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marL="0" indent="0" lvl="0" algn="ctr">
              <a:buNone/>
            </a:pPr>
            <a:r>
              <a:rPr lang="en-US" sz="12000" b="1" dirty="0">
                <a:solidFill>
                  <a:srgbClr val="163A5F"/>
                </a:solidFill>
                <a:latin typeface="Arial"/>
                <a:cs typeface="Arial"/>
              </a:rPr>
              <a:t>34,000</a:t>
            </a:r>
          </a:p>
        </p:txBody>
      </p:sp>
      <p:sp>
        <p:nvSpPr>
          <p:cNvPr id="4" name="context"/>
          <p:cNvSpPr/>
          <p:nvPr/>
        </p:nvSpPr>
        <p:spPr>
          <a:xfrm>
            <a:off x="830000" y="4500000"/>
            <a:ext cx="10532000" cy="8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 algn="ctr">
              <a:buNone/>
            </a:pPr>
            <a:r>
              <a:rPr lang="en-US" sz="2000" dirty="0">
                <a:solidFill>
                  <a:srgbClr val="6B7280"/>
                </a:solidFill>
                <a:latin typeface="Arial"/>
                <a:cs typeface="Arial"/>
              </a:rPr>
              <a:t>A line that makes the number human</a:t>
            </a:r>
          </a:p>
        </p:txBody>
      </p:sp>
      <p:sp>
        <p:nvSpPr>
          <p:cNvPr id="5" name="source"/>
          <p:cNvSpPr/>
          <p:nvPr/>
        </p:nvSpPr>
        <p:spPr>
          <a:xfrm>
            <a:off x="830000" y="5950000"/>
            <a:ext cx="10532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Source: internal data (2026)</a:t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THE CHANGE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What changes, side by side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left_panel"/>
          <p:cNvSpPr/>
          <p:nvPr/>
        </p:nvSpPr>
        <p:spPr>
          <a:xfrm>
            <a:off x="830000" y="2400000"/>
            <a:ext cx="4866000" cy="36000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6" name="right_panel"/>
          <p:cNvSpPr/>
          <p:nvPr/>
        </p:nvSpPr>
        <p:spPr>
          <a:xfrm>
            <a:off x="6496000" y="2400000"/>
            <a:ext cx="4866000" cy="3600000"/>
          </a:xfrm>
          <a:prstGeom prst="roundRect">
            <a:avLst>
              <a:gd name="adj" fmla="val 6000"/>
            </a:avLst>
          </a:prstGeom>
          <a:solidFill>
            <a:srgbClr val="F6F0DC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7" name="divider_arrow"/>
          <p:cNvSpPr/>
          <p:nvPr/>
        </p:nvSpPr>
        <p:spPr>
          <a:xfrm>
            <a:off x="5796000" y="4000000"/>
            <a:ext cx="600000" cy="40000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8" name="left_head"/>
          <p:cNvSpPr/>
          <p:nvPr/>
        </p:nvSpPr>
        <p:spPr>
          <a:xfrm>
            <a:off x="1080000" y="2650000"/>
            <a:ext cx="4366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6B7280"/>
                </a:solidFill>
                <a:latin typeface="Arial"/>
                <a:cs typeface="Arial"/>
              </a:rPr>
              <a:t>Before</a:t>
            </a:r>
          </a:p>
        </p:txBody>
      </p:sp>
      <p:sp>
        <p:nvSpPr>
          <p:cNvPr id="9" name="left_body"/>
          <p:cNvSpPr/>
          <p:nvPr/>
        </p:nvSpPr>
        <p:spPr>
          <a:xfrm>
            <a:off x="1080000" y="3250000"/>
            <a:ext cx="4366000" cy="26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Mirrored attribute, plainly stated</a:t>
            </a:r>
          </a:p>
        </p:txBody>
      </p:sp>
      <p:sp>
        <p:nvSpPr>
          <p:cNvPr id="10" name="right_head"/>
          <p:cNvSpPr/>
          <p:nvPr/>
        </p:nvSpPr>
        <p:spPr>
          <a:xfrm>
            <a:off x="6746000" y="2650000"/>
            <a:ext cx="4366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163A5F"/>
                </a:solidFill>
                <a:latin typeface="Arial"/>
                <a:cs typeface="Arial"/>
              </a:rPr>
              <a:t>After</a:t>
            </a:r>
          </a:p>
        </p:txBody>
      </p:sp>
      <p:sp>
        <p:nvSpPr>
          <p:cNvPr id="11" name="right_body"/>
          <p:cNvSpPr/>
          <p:nvPr/>
        </p:nvSpPr>
        <p:spPr>
          <a:xfrm>
            <a:off x="6746000" y="3250000"/>
            <a:ext cx="4366000" cy="26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20242C"/>
                </a:solidFill>
                <a:latin typeface="Arial"/>
                <a:cs typeface="Arial"/>
              </a:rPr>
              <a:t>Mirrored attribute, plainly stated</a:t>
            </a:r>
          </a:p>
        </p:txBody>
      </p:sp>
      <p:sp>
        <p:nvSpPr>
          <p:cNvPr id="12" name="source"/>
          <p:cNvSpPr/>
          <p:nvPr/>
        </p:nvSpPr>
        <p:spPr>
          <a:xfrm>
            <a:off x="830000" y="6020000"/>
            <a:ext cx="10532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3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_glyph"/>
          <p:cNvSpPr/>
          <p:nvPr/>
        </p:nvSpPr>
        <p:spPr>
          <a:xfrm>
            <a:off x="780000" y="1250000"/>
            <a:ext cx="180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2000" b="1" dirty="0">
                <a:solidFill>
                  <a:srgbClr val="C9A227"/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3" name="quote"/>
          <p:cNvSpPr/>
          <p:nvPr/>
        </p:nvSpPr>
        <p:spPr>
          <a:xfrm>
            <a:off x="1430000" y="2500000"/>
            <a:ext cx="9330000" cy="23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63A5F"/>
                </a:solidFill>
                <a:latin typeface="Arial"/>
                <a:cs typeface="Arial"/>
              </a:rPr>
              <a:t>A short quotation that carries a number does the arguing for you.</a:t>
            </a:r>
          </a:p>
        </p:txBody>
      </p:sp>
      <p:sp>
        <p:nvSpPr>
          <p:cNvPr id="4" name="attribution"/>
          <p:cNvSpPr/>
          <p:nvPr/>
        </p:nvSpPr>
        <p:spPr>
          <a:xfrm>
            <a:off x="1430000" y="5000000"/>
            <a:ext cx="933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600" dirty="0">
                <a:solidFill>
                  <a:srgbClr val="6B7280"/>
                </a:solidFill>
                <a:latin typeface="Arial"/>
                <a:cs typeface="Arial"/>
              </a:rPr>
              <a:t>— Customer name, role</a:t>
            </a:r>
          </a:p>
        </p:txBody>
      </p:sp>
      <p:sp>
        <p:nvSpPr>
          <p:cNvPr id="5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STATUS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The quarter at a glance, then the two things to fix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source"/>
          <p:cNvSpPr/>
          <p:nvPr/>
        </p:nvSpPr>
        <p:spPr>
          <a:xfrm>
            <a:off x="830000" y="6020000"/>
            <a:ext cx="10532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EVIDENCE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The takeaway stated as a sentence, proven at left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callout_card"/>
          <p:cNvSpPr/>
          <p:nvPr/>
        </p:nvSpPr>
        <p:spPr>
          <a:xfrm>
            <a:off x="7900000" y="2400000"/>
            <a:ext cx="3462000" cy="3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6" name="callout_head"/>
          <p:cNvSpPr/>
          <p:nvPr/>
        </p:nvSpPr>
        <p:spPr>
          <a:xfrm>
            <a:off x="8150000" y="2650000"/>
            <a:ext cx="296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800" b="1" dirty="0">
                <a:solidFill>
                  <a:srgbClr val="C9A227"/>
                </a:solidFill>
                <a:latin typeface="Arial"/>
                <a:cs typeface="Arial"/>
              </a:rPr>
              <a:t>So what</a:t>
            </a:r>
          </a:p>
        </p:txBody>
      </p:sp>
      <p:sp>
        <p:nvSpPr>
          <p:cNvPr id="7" name="callout_body"/>
          <p:cNvSpPr/>
          <p:nvPr/>
        </p:nvSpPr>
        <p:spPr>
          <a:xfrm>
            <a:off x="8150000" y="3250000"/>
            <a:ext cx="2962000" cy="2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spcBef>
                <a:spcPts val="600"/>
              </a:spcBef>
              <a:buNone/>
            </a:pPr>
            <a:r>
              <a:rPr lang="en-US" sz="1800" dirty="0">
                <a:solidFill>
                  <a:srgbClr val="20242C"/>
                </a:solidFill>
                <a:latin typeface="Arial"/>
                <a:cs typeface="Arial"/>
              </a:rPr>
              <a:t>Three to five short lines</a:t>
            </a:r>
          </a:p>
        </p:txBody>
      </p:sp>
      <p:sp>
        <p:nvSpPr>
          <p:cNvPr id="8" name="source"/>
          <p:cNvSpPr/>
          <p:nvPr/>
        </p:nvSpPr>
        <p:spPr>
          <a:xfrm>
            <a:off x="830000" y="6020000"/>
            <a:ext cx="10532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Source: internal data (2026)</a:t>
            </a:r>
          </a:p>
        </p:txBody>
      </p:sp>
      <p:sp>
        <p:nvSpPr>
          <p:cNvPr id="9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THE SOLUTION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Three moves deliver the outcome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card1"/>
          <p:cNvSpPr/>
          <p:nvPr/>
        </p:nvSpPr>
        <p:spPr>
          <a:xfrm>
            <a:off x="830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6" name="card2"/>
          <p:cNvSpPr/>
          <p:nvPr/>
        </p:nvSpPr>
        <p:spPr>
          <a:xfrm>
            <a:off x="4441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7" name="card3"/>
          <p:cNvSpPr/>
          <p:nvPr/>
        </p:nvSpPr>
        <p:spPr>
          <a:xfrm>
            <a:off x="8052000" y="2400000"/>
            <a:ext cx="331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90500" dist="76200" dir="5400000" rotWithShape="0">
              <a:srgbClr val="0F1B2A">
                <a:alpha val="25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8" name="card1_head"/>
          <p:cNvSpPr/>
          <p:nvPr/>
        </p:nvSpPr>
        <p:spPr>
          <a:xfrm>
            <a:off x="1080000" y="370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2000" b="1" dirty="0">
                <a:solidFill>
                  <a:srgbClr val="163A5F"/>
                </a:solidFill>
                <a:latin typeface="Arial"/>
                <a:cs typeface="Arial"/>
              </a:rPr>
              <a:t>Pillar one</a:t>
            </a:r>
          </a:p>
        </p:txBody>
      </p:sp>
      <p:sp>
        <p:nvSpPr>
          <p:cNvPr id="9" name="card2_head"/>
          <p:cNvSpPr/>
          <p:nvPr/>
        </p:nvSpPr>
        <p:spPr>
          <a:xfrm>
            <a:off x="4691000" y="370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2000" b="1" dirty="0">
                <a:solidFill>
                  <a:srgbClr val="163A5F"/>
                </a:solidFill>
                <a:latin typeface="Arial"/>
                <a:cs typeface="Arial"/>
              </a:rPr>
              <a:t>Pillar two</a:t>
            </a:r>
          </a:p>
        </p:txBody>
      </p:sp>
      <p:sp>
        <p:nvSpPr>
          <p:cNvPr id="10" name="card3_head"/>
          <p:cNvSpPr/>
          <p:nvPr/>
        </p:nvSpPr>
        <p:spPr>
          <a:xfrm>
            <a:off x="8302000" y="3700000"/>
            <a:ext cx="281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2000" b="1" dirty="0">
                <a:solidFill>
                  <a:srgbClr val="163A5F"/>
                </a:solidFill>
                <a:latin typeface="Arial"/>
                <a:cs typeface="Arial"/>
              </a:rPr>
              <a:t>Pillar three</a:t>
            </a:r>
          </a:p>
        </p:txBody>
      </p:sp>
      <p:sp>
        <p:nvSpPr>
          <p:cNvPr id="11" name="card1_line"/>
          <p:cNvSpPr/>
          <p:nvPr/>
        </p:nvSpPr>
        <p:spPr>
          <a:xfrm>
            <a:off x="1080000" y="4300000"/>
            <a:ext cx="2810000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One line that earns the pillar</a:t>
            </a:r>
          </a:p>
        </p:txBody>
      </p:sp>
      <p:sp>
        <p:nvSpPr>
          <p:cNvPr id="12" name="card2_line"/>
          <p:cNvSpPr/>
          <p:nvPr/>
        </p:nvSpPr>
        <p:spPr>
          <a:xfrm>
            <a:off x="4691000" y="4300000"/>
            <a:ext cx="2810000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One line that earns the pillar</a:t>
            </a:r>
          </a:p>
        </p:txBody>
      </p:sp>
      <p:sp>
        <p:nvSpPr>
          <p:cNvPr id="13" name="card3_line"/>
          <p:cNvSpPr/>
          <p:nvPr/>
        </p:nvSpPr>
        <p:spPr>
          <a:xfrm>
            <a:off x="8302000" y="4300000"/>
            <a:ext cx="2810000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rial"/>
                <a:cs typeface="Arial"/>
              </a:rPr>
              <a:t>One line that earns the pillar</a:t>
            </a:r>
          </a:p>
        </p:txBody>
      </p:sp>
      <p:sp>
        <p:nvSpPr>
          <p:cNvPr id="14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HOW IT WORKS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Five steps or fewer, and where the magic happens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source"/>
          <p:cNvSpPr/>
          <p:nvPr/>
        </p:nvSpPr>
        <p:spPr>
          <a:xfrm>
            <a:off x="830000" y="6020000"/>
            <a:ext cx="10532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ROADMAP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What ships when, and the decision points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source"/>
          <p:cNvSpPr/>
          <p:nvPr/>
        </p:nvSpPr>
        <p:spPr>
          <a:xfrm>
            <a:off x="830000" y="6020000"/>
            <a:ext cx="10532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830000" y="530000"/>
            <a:ext cx="1053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300" b="1" spc="300" dirty="0">
                <a:solidFill>
                  <a:srgbClr val="C9A227"/>
                </a:solidFill>
                <a:latin typeface="Arial"/>
                <a:cs typeface="Arial"/>
              </a:rPr>
              <a:t>THE TRADE-OFF</a:t>
            </a:r>
          </a:p>
        </p:txBody>
      </p:sp>
      <p:sp>
        <p:nvSpPr>
          <p:cNvPr id="3" name="title"/>
          <p:cNvSpPr/>
          <p:nvPr/>
        </p:nvSpPr>
        <p:spPr>
          <a:xfrm>
            <a:off x="830000" y="940000"/>
            <a:ext cx="10532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63A5F"/>
                </a:solidFill>
                <a:latin typeface="Arial"/>
                <a:cs typeface="Arial"/>
              </a:rPr>
              <a:t>Where the options land on the two axes that matter</a:t>
            </a:r>
          </a:p>
        </p:txBody>
      </p:sp>
      <p:sp>
        <p:nvSpPr>
          <p:cNvPr id="4" name="rule"/>
          <p:cNvSpPr/>
          <p:nvPr/>
        </p:nvSpPr>
        <p:spPr>
          <a:xfrm>
            <a:off x="830000" y="2170000"/>
            <a:ext cx="10532000" cy="25400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5" name="plot_field"/>
          <p:cNvSpPr/>
          <p:nvPr/>
        </p:nvSpPr>
        <p:spPr>
          <a:xfrm>
            <a:off x="1830000" y="2400000"/>
            <a:ext cx="8500000" cy="3200000"/>
          </a:xfrm>
          <a:prstGeom prst="roundRect">
            <a:avLst>
              <a:gd name="adj" fmla="val 3000"/>
            </a:avLst>
          </a:prstGeom>
          <a:solidFill>
            <a:srgbClr val="F2F4F7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6" name="axis_v"/>
          <p:cNvSpPr/>
          <p:nvPr/>
        </p:nvSpPr>
        <p:spPr>
          <a:xfrm>
            <a:off x="6073650" y="2400000"/>
            <a:ext cx="12700" cy="3200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7" name="axis_h"/>
          <p:cNvSpPr/>
          <p:nvPr/>
        </p:nvSpPr>
        <p:spPr>
          <a:xfrm>
            <a:off x="1830000" y="3993650"/>
            <a:ext cx="8500000" cy="127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wrap="square" anchor="t">
            <a:normAutofit/>
          </a:bodyPr>
          <a:lstStyle/>
          <a:p>
            <a:endParaRPr lang="en-US"/>
          </a:p>
        </p:txBody>
      </p:sp>
      <p:sp>
        <p:nvSpPr>
          <p:cNvPr id="8" name="y_label"/>
          <p:cNvSpPr/>
          <p:nvPr/>
        </p:nvSpPr>
        <p:spPr>
          <a:xfrm>
            <a:off x="1980000" y="2480000"/>
            <a:ext cx="4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200" dirty="0">
                <a:solidFill>
                  <a:srgbClr val="6B7280"/>
                </a:solidFill>
                <a:latin typeface="Arial"/>
                <a:cs typeface="Arial"/>
              </a:rPr>
              <a:t>Vertical axis: low to high</a:t>
            </a:r>
          </a:p>
        </p:txBody>
      </p:sp>
      <p:sp>
        <p:nvSpPr>
          <p:cNvPr id="9" name="x_label"/>
          <p:cNvSpPr/>
          <p:nvPr/>
        </p:nvSpPr>
        <p:spPr>
          <a:xfrm>
            <a:off x="6130000" y="5660000"/>
            <a:ext cx="405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 algn="r">
              <a:buNone/>
            </a:pPr>
            <a:r>
              <a:rPr lang="en-US" sz="1200" dirty="0">
                <a:solidFill>
                  <a:srgbClr val="6B7280"/>
                </a:solidFill>
                <a:latin typeface="Arial"/>
                <a:cs typeface="Arial"/>
              </a:rPr>
              <a:t>Horizontal axis: low to high</a:t>
            </a:r>
          </a:p>
        </p:txBody>
      </p:sp>
      <p:sp>
        <p:nvSpPr>
          <p:cNvPr id="10" name="q1_label"/>
          <p:cNvSpPr/>
          <p:nvPr/>
        </p:nvSpPr>
        <p:spPr>
          <a:xfrm>
            <a:off x="1980000" y="2800000"/>
            <a:ext cx="39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1" name="q2_label"/>
          <p:cNvSpPr/>
          <p:nvPr/>
        </p:nvSpPr>
        <p:spPr>
          <a:xfrm>
            <a:off x="6180000" y="2800000"/>
            <a:ext cx="395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 algn="r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2" name="q3_label"/>
          <p:cNvSpPr/>
          <p:nvPr/>
        </p:nvSpPr>
        <p:spPr>
          <a:xfrm>
            <a:off x="1980000" y="5220000"/>
            <a:ext cx="39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3" name="q4_label"/>
          <p:cNvSpPr/>
          <p:nvPr/>
        </p:nvSpPr>
        <p:spPr>
          <a:xfrm>
            <a:off x="6180000" y="5220000"/>
            <a:ext cx="395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 algn="r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footer"/>
          <p:cNvSpPr/>
          <p:nvPr/>
        </p:nvSpPr>
        <p:spPr>
          <a:xfrm>
            <a:off x="830000" y="6350000"/>
            <a:ext cx="10532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0" indent="0" lvl="0">
              <a:buNone/>
            </a:pPr>
            <a:r>
              <a:rPr lang="en-US" sz="1100" dirty="0">
                <a:solidFill>
                  <a:srgbClr val="6B7280"/>
                </a:solidFill>
                <a:latin typeface="Arial"/>
                <a:cs typeface="Arial"/>
              </a:rPr>
              <a:t>Deck title ·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be">
  <a:themeElements>
    <a:clrScheme name="Vibe">
      <a:dk1>
        <a:srgbClr val="20242C"/>
      </a:dk1>
      <a:lt1>
        <a:srgbClr val="FFFFFF"/>
      </a:lt1>
      <a:dk2>
        <a:srgbClr val="163A5F"/>
      </a:dk2>
      <a:lt2>
        <a:srgbClr val="F2F4F7"/>
      </a:lt2>
      <a:accent1>
        <a:srgbClr val="C9A227"/>
      </a:accent1>
      <a:accent2>
        <a:srgbClr val="2C7A7B"/>
      </a:accent2>
      <a:accent3>
        <a:srgbClr val="6B7280"/>
      </a:accent3>
      <a:accent4>
        <a:srgbClr val="B85450"/>
      </a:accent4>
      <a:accent5>
        <a:srgbClr val="82B366"/>
      </a:accent5>
      <a:accent6>
        <a:srgbClr val="6C8EBF"/>
      </a:accent6>
      <a:hlink>
        <a:srgbClr val="2C7A7B"/>
      </a:hlink>
      <a:folHlink>
        <a:srgbClr val="6B7280"/>
      </a:folHlink>
    </a:clrScheme>
    <a:fontScheme name="Vib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vibe plugin</Application>
</Properties>
</file>

<file path=docProps/core.xml><?xml version="1.0" encoding="utf-8"?>
<cp:coreProperties xmlns:cp="http://schemas.openxmlformats.org/package/2006/metadata/core-properties" xmlns:dc="http://purl.org/dc/elements/1.1/">
  <dc:title>vibe deck template</dc:title>
  <dc:creator>vibe plugin</dc:creator>
</cp:coreProperties>
</file>