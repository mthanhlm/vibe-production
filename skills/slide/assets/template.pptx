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830000" y="2280000"/>
            <a:ext cx="1600000" cy="76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830000" y="2480000"/>
            <a:ext cx="10532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Deck title states the single recommendation</a:t>
            </a:r>
          </a:p>
        </p:txBody>
      </p:sp>
      <p:sp>
        <p:nvSpPr>
          <p:cNvPr id="5" name="subtitle"/>
          <p:cNvSpPr/>
          <p:nvPr/>
        </p:nvSpPr>
        <p:spPr>
          <a:xfrm>
            <a:off x="830000" y="4060000"/>
            <a:ext cx="10532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9C6D8"/>
                </a:solidFill>
                <a:latin typeface="Arial"/>
                <a:cs typeface="Arial"/>
              </a:rPr>
              <a:t>Subtitle: why this matters to the business now</a:t>
            </a:r>
          </a:p>
        </p:txBody>
      </p:sp>
      <p:sp>
        <p:nvSpPr>
          <p:cNvPr id="6" name="meta"/>
          <p:cNvSpPr/>
          <p:nvPr/>
        </p:nvSpPr>
        <p:spPr>
          <a:xfrm>
            <a:off x="830000" y="6100000"/>
            <a:ext cx="10532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400" dirty="0">
                <a:solidFill>
                  <a:srgbClr val="B9C6D8"/>
                </a:solidFill>
                <a:latin typeface="Arial"/>
                <a:cs typeface="Arial"/>
              </a:rPr>
              <a:t>2026-01-01 · Prepared for the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30000" y="530000"/>
            <a:ext cx="1053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300" b="1" spc="300" dirty="0">
                <a:solidFill>
                  <a:srgbClr val="C9A227"/>
                </a:solidFill>
                <a:latin typeface="Arial"/>
                <a:cs typeface="Arial"/>
              </a:rPr>
              <a:t>EXECUTIVE SUMMARY</a:t>
            </a:r>
          </a:p>
        </p:txBody>
      </p:sp>
      <p:sp>
        <p:nvSpPr>
          <p:cNvPr id="3" name="title"/>
          <p:cNvSpPr/>
          <p:nvPr/>
        </p:nvSpPr>
        <p:spPr>
          <a:xfrm>
            <a:off x="830000" y="940000"/>
            <a:ext cx="10532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63A5F"/>
                </a:solidFill>
                <a:latin typeface="Arial"/>
                <a:cs typeface="Arial"/>
              </a:rPr>
              <a:t>Three moves capture the opportunity this quarter</a:t>
            </a:r>
          </a:p>
        </p:txBody>
      </p:sp>
      <p:sp>
        <p:nvSpPr>
          <p:cNvPr id="4" name="rule"/>
          <p:cNvSpPr/>
          <p:nvPr/>
        </p:nvSpPr>
        <p:spPr>
          <a:xfrm>
            <a:off x="830000" y="2170000"/>
            <a:ext cx="10532000" cy="254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5" name="body"/>
          <p:cNvSpPr/>
          <p:nvPr/>
        </p:nvSpPr>
        <p:spPr>
          <a:xfrm>
            <a:off x="830000" y="2400000"/>
            <a:ext cx="10532000" cy="38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 lvl="0">
              <a:lnSpc>
                <a:spcPct val="115000"/>
              </a:lnSpc>
              <a:spcBef>
                <a:spcPts val="1200"/>
              </a:spcBef>
              <a:buClr>
                <a:srgbClr val="C9A227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0242C"/>
                </a:solidFill>
                <a:latin typeface="Arial"/>
                <a:cs typeface="Arial"/>
              </a:rPr>
              <a:t>Bold claim one, stated as a full sentence with a number</a:t>
            </a:r>
          </a:p>
          <a:p>
            <a:pPr marL="685800" indent="-274320" lvl="1">
              <a:lnSpc>
                <a:spcPct val="115000"/>
              </a:lnSpc>
              <a:spcBef>
                <a:spcPts val="600"/>
              </a:spcBef>
              <a:buClr>
                <a:srgbClr val="6B7280"/>
              </a:buClr>
              <a:buFont typeface="Arial"/>
              <a:buChar char="–"/>
            </a:pPr>
            <a:r>
              <a:rPr lang="en-US" sz="1800" dirty="0">
                <a:solidFill>
                  <a:srgbClr val="6B7280"/>
                </a:solidFill>
                <a:latin typeface="Arial"/>
                <a:cs typeface="Arial"/>
              </a:rPr>
              <a:t>Optional supporting fact for the claim above</a:t>
            </a:r>
          </a:p>
        </p:txBody>
      </p:sp>
      <p:sp>
        <p:nvSpPr>
          <p:cNvPr id="6" name="footer"/>
          <p:cNvSpPr/>
          <p:nvPr/>
        </p:nvSpPr>
        <p:spPr>
          <a:xfrm>
            <a:off x="830000" y="6350000"/>
            <a:ext cx="10532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100" dirty="0">
                <a:solidFill>
                  <a:srgbClr val="6B7280"/>
                </a:solidFill>
                <a:latin typeface="Arial"/>
                <a:cs typeface="Arial"/>
              </a:rPr>
              <a:t>Deck title ·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3" name="accent"/>
          <p:cNvSpPr/>
          <p:nvPr/>
        </p:nvSpPr>
        <p:spPr>
          <a:xfrm>
            <a:off x="830000" y="2830000"/>
            <a:ext cx="1600000" cy="76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4" name="kicker"/>
          <p:cNvSpPr/>
          <p:nvPr/>
        </p:nvSpPr>
        <p:spPr>
          <a:xfrm>
            <a:off x="830000" y="2340000"/>
            <a:ext cx="10532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300" b="1" spc="300" dirty="0">
                <a:solidFill>
                  <a:srgbClr val="C9A227"/>
                </a:solidFill>
                <a:latin typeface="Arial"/>
                <a:cs typeface="Arial"/>
              </a:rPr>
              <a:t>PART ONE</a:t>
            </a:r>
          </a:p>
        </p:txBody>
      </p:sp>
      <p:sp>
        <p:nvSpPr>
          <p:cNvPr id="5" name="title"/>
          <p:cNvSpPr/>
          <p:nvPr/>
        </p:nvSpPr>
        <p:spPr>
          <a:xfrm>
            <a:off x="830000" y="3030000"/>
            <a:ext cx="10532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Section statement in one confident sentence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30000" y="530000"/>
            <a:ext cx="1053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300" b="1" spc="300" dirty="0">
                <a:solidFill>
                  <a:srgbClr val="C9A227"/>
                </a:solidFill>
                <a:latin typeface="Arial"/>
                <a:cs typeface="Arial"/>
              </a:rPr>
              <a:t>TOPIC</a:t>
            </a:r>
          </a:p>
        </p:txBody>
      </p:sp>
      <p:sp>
        <p:nvSpPr>
          <p:cNvPr id="3" name="title"/>
          <p:cNvSpPr/>
          <p:nvPr/>
        </p:nvSpPr>
        <p:spPr>
          <a:xfrm>
            <a:off x="830000" y="940000"/>
            <a:ext cx="10532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63A5F"/>
                </a:solidFill>
                <a:latin typeface="Arial"/>
                <a:cs typeface="Arial"/>
              </a:rPr>
              <a:t>Action title: the takeaway of this slide in one sentence</a:t>
            </a:r>
          </a:p>
        </p:txBody>
      </p:sp>
      <p:sp>
        <p:nvSpPr>
          <p:cNvPr id="4" name="rule"/>
          <p:cNvSpPr/>
          <p:nvPr/>
        </p:nvSpPr>
        <p:spPr>
          <a:xfrm>
            <a:off x="830000" y="2170000"/>
            <a:ext cx="10532000" cy="254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5" name="body"/>
          <p:cNvSpPr/>
          <p:nvPr/>
        </p:nvSpPr>
        <p:spPr>
          <a:xfrm>
            <a:off x="830000" y="2400000"/>
            <a:ext cx="10532000" cy="3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 lvl="0">
              <a:lnSpc>
                <a:spcPct val="115000"/>
              </a:lnSpc>
              <a:spcBef>
                <a:spcPts val="1200"/>
              </a:spcBef>
              <a:buClr>
                <a:srgbClr val="C9A227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0242C"/>
                </a:solidFill>
                <a:latin typeface="Arial"/>
                <a:cs typeface="Arial"/>
              </a:rPr>
              <a:t>Supporting point that proves the title</a:t>
            </a:r>
          </a:p>
          <a:p>
            <a:pPr marL="685800" indent="-274320" lvl="1">
              <a:lnSpc>
                <a:spcPct val="115000"/>
              </a:lnSpc>
              <a:spcBef>
                <a:spcPts val="600"/>
              </a:spcBef>
              <a:buClr>
                <a:srgbClr val="6B7280"/>
              </a:buClr>
              <a:buFont typeface="Arial"/>
              <a:buChar char="–"/>
            </a:pPr>
            <a:r>
              <a:rPr lang="en-US" sz="1800" dirty="0">
                <a:solidFill>
                  <a:srgbClr val="6B7280"/>
                </a:solidFill>
                <a:latin typeface="Arial"/>
                <a:cs typeface="Arial"/>
              </a:rPr>
              <a:t>Detail only if it earns its place</a:t>
            </a:r>
          </a:p>
        </p:txBody>
      </p:sp>
      <p:sp>
        <p:nvSpPr>
          <p:cNvPr id="6" name="footer"/>
          <p:cNvSpPr/>
          <p:nvPr/>
        </p:nvSpPr>
        <p:spPr>
          <a:xfrm>
            <a:off x="830000" y="6350000"/>
            <a:ext cx="10532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100" dirty="0">
                <a:solidFill>
                  <a:srgbClr val="6B7280"/>
                </a:solidFill>
                <a:latin typeface="Arial"/>
                <a:cs typeface="Arial"/>
              </a:rPr>
              <a:t>Deck title ·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830000" y="530000"/>
            <a:ext cx="10532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300" b="1" spc="300" dirty="0">
                <a:solidFill>
                  <a:srgbClr val="C9A227"/>
                </a:solidFill>
                <a:latin typeface="Arial"/>
                <a:cs typeface="Arial"/>
              </a:rPr>
              <a:t>THE ASK</a:t>
            </a:r>
          </a:p>
        </p:txBody>
      </p:sp>
      <p:sp>
        <p:nvSpPr>
          <p:cNvPr id="3" name="title"/>
          <p:cNvSpPr/>
          <p:nvPr/>
        </p:nvSpPr>
        <p:spPr>
          <a:xfrm>
            <a:off x="830000" y="940000"/>
            <a:ext cx="10532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63A5F"/>
                </a:solidFill>
                <a:latin typeface="Arial"/>
                <a:cs typeface="Arial"/>
              </a:rPr>
              <a:t>Decision needed: approve the next step</a:t>
            </a:r>
          </a:p>
        </p:txBody>
      </p:sp>
      <p:sp>
        <p:nvSpPr>
          <p:cNvPr id="4" name="rule"/>
          <p:cNvSpPr/>
          <p:nvPr/>
        </p:nvSpPr>
        <p:spPr>
          <a:xfrm>
            <a:off x="830000" y="2170000"/>
            <a:ext cx="10532000" cy="25400"/>
          </a:xfrm>
          <a:prstGeom prst="rect">
            <a:avLst/>
          </a:prstGeom>
          <a:solidFill>
            <a:srgbClr val="E3E7EE"/>
          </a:solidFill>
          <a:ln>
            <a:noFill/>
          </a:ln>
        </p:spPr>
        <p:txBody>
          <a:bodyPr wrap="square" anchor="t">
            <a:normAutofit/>
          </a:bodyPr>
          <a:lstStyle/>
          <a:p>
            <a:endParaRPr lang="en-US"/>
          </a:p>
        </p:txBody>
      </p:sp>
      <p:sp>
        <p:nvSpPr>
          <p:cNvPr id="5" name="body"/>
          <p:cNvSpPr/>
          <p:nvPr/>
        </p:nvSpPr>
        <p:spPr>
          <a:xfrm>
            <a:off x="830000" y="2400000"/>
            <a:ext cx="10532000" cy="37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342900" indent="-342900" lvl="0">
              <a:lnSpc>
                <a:spcPct val="115000"/>
              </a:lnSpc>
              <a:spcBef>
                <a:spcPts val="1200"/>
              </a:spcBef>
              <a:buClr>
                <a:srgbClr val="C9A227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0242C"/>
                </a:solidFill>
                <a:latin typeface="Arial"/>
                <a:cs typeface="Arial"/>
              </a:rPr>
              <a:t>What we need, from whom, by when</a:t>
            </a:r>
          </a:p>
          <a:p>
            <a:pPr marL="685800" indent="-274320" lvl="1">
              <a:lnSpc>
                <a:spcPct val="115000"/>
              </a:lnSpc>
              <a:spcBef>
                <a:spcPts val="600"/>
              </a:spcBef>
              <a:buClr>
                <a:srgbClr val="6B7280"/>
              </a:buClr>
              <a:buFont typeface="Arial"/>
              <a:buChar char="–"/>
            </a:pPr>
            <a:r>
              <a:rPr lang="en-US" sz="1800" dirty="0">
                <a:solidFill>
                  <a:srgbClr val="6B7280"/>
                </a:solidFill>
                <a:latin typeface="Arial"/>
                <a:cs typeface="Arial"/>
              </a:rPr>
              <a:t>What happens once approved</a:t>
            </a:r>
          </a:p>
        </p:txBody>
      </p:sp>
      <p:sp>
        <p:nvSpPr>
          <p:cNvPr id="6" name="footer"/>
          <p:cNvSpPr/>
          <p:nvPr/>
        </p:nvSpPr>
        <p:spPr>
          <a:xfrm>
            <a:off x="830000" y="6350000"/>
            <a:ext cx="10532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marL="0" indent="0" lvl="0">
              <a:buNone/>
            </a:pPr>
            <a:r>
              <a:rPr lang="en-US" sz="1100" dirty="0">
                <a:solidFill>
                  <a:srgbClr val="6B7280"/>
                </a:solidFill>
                <a:latin typeface="Arial"/>
                <a:cs typeface="Arial"/>
              </a:rPr>
              <a:t>Deck title ·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be">
  <a:themeElements>
    <a:clrScheme name="Vibe">
      <a:dk1>
        <a:srgbClr val="20242C"/>
      </a:dk1>
      <a:lt1>
        <a:srgbClr val="FFFFFF"/>
      </a:lt1>
      <a:dk2>
        <a:srgbClr val="163A5F"/>
      </a:dk2>
      <a:lt2>
        <a:srgbClr val="F2F4F7"/>
      </a:lt2>
      <a:accent1>
        <a:srgbClr val="C9A227"/>
      </a:accent1>
      <a:accent2>
        <a:srgbClr val="2C7A7B"/>
      </a:accent2>
      <a:accent3>
        <a:srgbClr val="6B7280"/>
      </a:accent3>
      <a:accent4>
        <a:srgbClr val="B85450"/>
      </a:accent4>
      <a:accent5>
        <a:srgbClr val="82B366"/>
      </a:accent5>
      <a:accent6>
        <a:srgbClr val="6C8EBF"/>
      </a:accent6>
      <a:hlink>
        <a:srgbClr val="2C7A7B"/>
      </a:hlink>
      <a:folHlink>
        <a:srgbClr val="6B7280"/>
      </a:folHlink>
    </a:clrScheme>
    <a:fontScheme name="Vib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vibe deck template</dc:title>
  <dc:creator>vibe plugin</dc:creator>
</cp:coreProperties>
</file>